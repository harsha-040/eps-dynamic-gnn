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6"/>
    <p:sldId id="271" r:id="rId27"/>
    <p:sldId id="272" r:id="rId28"/>
    <p:sldId id="273" r:id="rId29"/>
  </p:sldIdLst>
  <p:sldSz cy="6858000" cx="12192000"/>
  <p:notesSz cx="6797675" cy="987425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25" roundtripDataSignature="AMtx7mgoanosbrBywmEBk41yCKC7rFyd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41"/>
      </p:guideLst>
    </p:cSldViewPr>
  </p:notes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  <Relationship Id="rId29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3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3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ef78e3a9_2_0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ef78e3a9_2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aef78e3a9_2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d9c4f0da6_0_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1" name="Google Shape;101;g30d9c4f0da6_0_2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0d9c4f0da6_0_2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56b7084ef_0_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5" name="Google Shape;125;g3156b7084ef_0_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156b7084ef_0_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b40153f05_0_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g31b40153f05_0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1b40153f05_0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d9c4f0da6_0_3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g30d9c4f0da6_0_3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0d9c4f0da6_0_3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96417" y="2099733"/>
            <a:ext cx="10804890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67351" y="335692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6417" y="558343"/>
            <a:ext cx="19907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41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" name="Google Shape;17;p4"/>
          <p:cNvSpPr/>
          <p:nvPr/>
        </p:nvSpPr>
        <p:spPr>
          <a:xfrm>
            <a:off x="10437812" y="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098720" y="973137"/>
            <a:ext cx="7818392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548656" y="2258913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0347324" y="41275"/>
            <a:ext cx="8382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6"/>
          <p:cNvGrpSpPr/>
          <p:nvPr/>
        </p:nvGrpSpPr>
        <p:grpSpPr>
          <a:xfrm>
            <a:off x="3220" y="-123660"/>
            <a:ext cx="12192000" cy="6981660"/>
            <a:chOff x="0" y="-2373"/>
            <a:chExt cx="12192000" cy="6867027"/>
          </a:xfrm>
        </p:grpSpPr>
        <p:sp>
          <p:nvSpPr>
            <p:cNvPr id="29" name="Google Shape;29;p6"/>
            <p:cNvSpPr/>
            <p:nvPr/>
          </p:nvSpPr>
          <p:spPr>
            <a:xfrm>
              <a:off x="0" y="0"/>
              <a:ext cx="12192000" cy="6857999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" name="Google Shape;30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" name="Google Shape;31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098"/>
                  </a:srgbClr>
                </a:gs>
                <a:gs pos="36000">
                  <a:srgbClr val="F7F7F7">
                    <a:alpha val="4314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-600000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803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" name="Google Shape;36;p6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1587"/>
              <a:ext cx="12192000" cy="6856414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38" name="Google Shape;38;p6"/>
          <p:cNvSpPr txBox="1"/>
          <p:nvPr>
            <p:ph type="title"/>
          </p:nvPr>
        </p:nvSpPr>
        <p:spPr>
          <a:xfrm>
            <a:off x="2274887" y="973137"/>
            <a:ext cx="7642225" cy="70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437812" y="0"/>
            <a:ext cx="685800" cy="606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2703512" y="629667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151812" y="150813"/>
            <a:ext cx="1600200" cy="1599946"/>
          </a:xfrm>
          <a:prstGeom prst="ellipse">
            <a:avLst/>
          </a:prstGeom>
          <a:gradFill>
            <a:gsLst>
              <a:gs pos="0">
                <a:srgbClr val="F7F7F7">
                  <a:alpha val="12157"/>
                </a:srgbClr>
              </a:gs>
              <a:gs pos="36000">
                <a:srgbClr val="F7F7F7">
                  <a:alpha val="5098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-14401800" y="-3308619"/>
            <a:ext cx="12192000" cy="6855326"/>
          </a:xfrm>
          <a:custGeom>
            <a:rect b="b" l="l" r="r" t="t"/>
            <a:pathLst>
              <a:path extrusionOk="0" h="8638" w="15356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67" y="472100"/>
            <a:ext cx="1478992" cy="10119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1683171" y="2099733"/>
            <a:ext cx="8825658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60" name="Google Shape;60;p34"/>
          <p:cNvSpPr txBox="1"/>
          <p:nvPr>
            <p:ph idx="4294967295" type="subTitle"/>
          </p:nvPr>
        </p:nvSpPr>
        <p:spPr>
          <a:xfrm>
            <a:off x="1683171" y="3429000"/>
            <a:ext cx="8825658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1CR23CS165 – Sanjana P Sutrave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1CR23CS135 – R Harsha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 of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D. Sumathi, Associate Professor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34"/>
          <p:cNvSpPr txBox="1"/>
          <p:nvPr/>
        </p:nvSpPr>
        <p:spPr>
          <a:xfrm>
            <a:off x="2816075" y="420325"/>
            <a:ext cx="764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BCSP786 – Major Project Phase -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- 2 </a:t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34"/>
          <p:cNvSpPr txBox="1"/>
          <p:nvPr/>
        </p:nvSpPr>
        <p:spPr>
          <a:xfrm>
            <a:off x="8710875" y="49690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31-08-2026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Problem Statement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Objective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Base Paper – Journal Paper Reference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Progress After Review 1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Proposed Methodology 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Intermediate Results</a:t>
            </a:r>
            <a:endParaRPr/>
          </a:p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Satellites depend on their Electrical Power System (EPS) — solar array, battery, regulator, bus, load — and undetected faults here can directly compromise the mission.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Existing GNN-based fault diagnosis methods (including our base paper) model the EPS as a graph with a FIXED adjacency matrix, assumed constant for the entire diagnosis process.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Gap: a fixed graph cannot represent how component importance shifts with orbital state — e.g. the EPS depends almost entirely on the battery during eclipse and on the solar array in sunlight — a shift no static graph can express. Existing methods also target binary anomaly detection, not multi-class fault diagnosis.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Proposed solution: a Dynamic Graph Neural Network (Dynamic-GNN) that learns a time-varying adjacency matrix A(t) directly from telemetry at every timestep, enabling accurate, interpretable, multi-class EPS fault diagnosis.</a:t>
            </a:r>
            <a:endParaRPr/>
          </a:p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Construct a physically grounded simulation of a satellite EPS that generates labeled multivariate telemetry under nominal and four fault conditions.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Design a GNN-based fault diagnosis model whose graph structure is learned from telemetry at every timestep, instead of being fixed in advance.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Quantitatively establish, under identical training conditions and a matched parameter budget, whether a dynamic graph improves diagnostic accuracy over a fixed-topology GNN and non-graph (CNN, LSTM) baselines.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Evaluate the interpretability of the learned graph/attention and the model's robustness under noisy or missing telemetry.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ef78e3a9_2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Novelty of Proposed System</a:t>
            </a:r>
            <a:endParaRPr/>
          </a:p>
        </p:txBody>
      </p:sp>
      <p:sp>
        <p:nvSpPr>
          <p:cNvPr id="90" name="Google Shape;90;g3faef78e3a9_2_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All prior GNN-based fault/anomaly diagnosis work — including the base paper — constructs its graph ONCE and holds it fixed for the entire process.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Proposed Dynamic-GNN instead computes a fresh adjacency matrix A(t) at every timestep, from a small learned attention scorer over the current node embeddings, before propagating through GCN + GAT layers and a GRU.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lets the model adaptively reweight which components matter most as orbital conditions change (e.g. battery-dominant in eclipse → solar-array-dominant in sunlight) — a shift a fixed graph has no mechanism to express.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To the best of our knowledge, the first model to apply timestep-wise dynamic graph construction specifically to satellite EPS fault diagnosis, directly addressing a limitation the base paper leaves as future work.</a:t>
            </a:r>
            <a:endParaRPr/>
          </a:p>
        </p:txBody>
      </p:sp>
      <p:sp>
        <p:nvSpPr>
          <p:cNvPr id="91" name="Google Shape;91;g3faef78e3a9_2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0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Base Paper</a:t>
            </a:r>
            <a:endParaRPr/>
          </a:p>
        </p:txBody>
      </p:sp>
      <p:sp>
        <p:nvSpPr>
          <p:cNvPr id="97" name="Google Shape;97;p40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Reference Paper — Journal Paper (Expert Systems With Applications, Elsevier):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Y. Di, F. Wang, Z. Zhao, Z. Zhai, and X. Chen, “An interpretable graph neural network for real-world satellite power system anomaly detection based on graph filtering,” Expert Systems with Applications, vol. 254, p. 124348, 2024.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Base paper uses an interpretable GNN with an adaptive graph filter for satellite power-system anomaly detection — but explicitly states the graph is STATIC (“inter-coupling relationship among the sensors... remains unchanged over time”) and targets binary anomaly detection, not multi-class fault diagnosis.</a:t>
            </a:r>
            <a:endParaRPr/>
          </a:p>
        </p:txBody>
      </p:sp>
      <p:sp>
        <p:nvSpPr>
          <p:cNvPr id="98" name="Google Shape;98;p40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d9c4f0da6_0_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Progress After Review 1</a:t>
            </a:r>
            <a:endParaRPr/>
          </a:p>
        </p:txBody>
      </p:sp>
      <p:sp>
        <p:nvSpPr>
          <p:cNvPr id="105" name="Google Shape;105;g30d9c4f0da6_0_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EPS physics simulator built and validated — governing equations for solar power, battery state-of-charge, bus voltage regulation, and system-wide power balance; sanity-checked for zero NaN/Inf and physically consistent behavior.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Dataset finalized: 1,500 labeled orbit episodes, 300 each across 5 balanced fault classes, split stratified 70:20:10.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All four models implemented and trained under identical conditions: CNN, LSTM, Static-Graph GNN (fixed-topology baseline), and the proposed Dynamic-GNN.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Full evaluation completed — Dynamic-GNN reaches 97.3% test accuracy vs. 76.0–82.7% for the three baselines, with matched parameter budgets.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Interpretability analysis added: per-class attention weights, and visualization of the learned adjacency A(t) across an eclipse→sunlit orbital transition.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Robustness stress-tested under noisy/missing telemetry; found and partially fixed a real weakness via noise/dropout-augmented training.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Live interactive web demo built (FastAPI backend + browser frontend) that runs the simulator and all four trained models on demand.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Base paper identified and a full IEEE-format conference paper drafted (6 pages, 20 references).</a:t>
            </a:r>
            <a:endParaRPr/>
          </a:p>
        </p:txBody>
      </p:sp>
      <p:sp>
        <p:nvSpPr>
          <p:cNvPr id="106" name="Google Shape;106;g30d9c4f0da6_0_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Dynamic-GNN pipeline (left): node telemetry → learned dynamic graph A(t) → GCN → GAT → GRU (temporal fusion) → FC + Softmax classifier.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Fixed EPS power-flow topology (right): used only by the Static-GNN baseline for comparison — the proposed model learns its own graph instead.</a:t>
            </a:r>
            <a:endParaRPr/>
          </a:p>
        </p:txBody>
      </p:sp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3" name="Picture 9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778" y="3932040"/>
            <a:ext cx="2596869" cy="2267960"/>
          </a:xfrm>
          <a:prstGeom prst="rect">
            <a:avLst/>
          </a:prstGeom>
        </p:spPr>
      </p:pic>
      <p:pic>
        <p:nvPicPr>
          <p:cNvPr id="904" name="Picture 9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407" y="3932040"/>
            <a:ext cx="2807815" cy="2267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Dataset Description</a:t>
            </a:r>
            <a:endParaRPr/>
          </a:p>
        </p:txBody>
      </p:sp>
      <p:sp>
        <p:nvSpPr>
          <p:cNvPr id="121" name="Google Shape;121;p1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Source: custom-built physics simulator (not third-party) implementing governing equations for solar power, battery SOC, bus voltage regulation, and system-wide power balance for a 5-node satellite EPS.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Size: 1,500 labeled samples — 300 per class, exactly balanced across 5 fault classes; split stratified 70:20:10 (train/val/test).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Each sample: one full 96-minute orbit, 240 timesteps (24s apart), 5 nodes × 5 features (voltage, current, power, temperature, state-of-charge) — guaranteeing a full eclipse→sunlit cycle per sample.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Classes: nominal, sa_degradation, battery_over_discharge, pcu_regulator_fault, bus_distribution_fault.</a:t>
            </a:r>
            <a:endParaRPr/>
          </a:p>
        </p:txBody>
      </p:sp>
      <p:sp>
        <p:nvSpPr>
          <p:cNvPr id="122" name="Google Shape;122;p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3" name="Picture 9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712" y="5450000"/>
            <a:ext cx="3982576" cy="7466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56b7084ef_0_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Proposed Methodology – Modules</a:t>
            </a:r>
            <a:br>
              <a:rPr lang="en-US"/>
            </a:br>
            <a:r>
              <a:rPr lang="en-US" sz="1600"/>
              <a:t>Modules / Block Diagram of Proposed System</a:t>
            </a:r>
            <a:endParaRPr sz="1600"/>
          </a:p>
        </p:txBody>
      </p:sp>
      <p:sp>
        <p:nvSpPr>
          <p:cNvPr id="129" name="Google Shape;129;g3156b7084ef_0_8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 1 – EPS Physics Simulation &amp; Dataset Generation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 2 – Dynamic Graph Construction (learned A(t))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 3 – GCN + GAT Structural &amp; Attention Propagation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 4 – Temporal Fusion (GRU) &amp; Classification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 5 – Training, Robustness Augmentation &amp; Evaluation</a:t>
            </a:r>
            <a:endParaRPr/>
          </a:p>
        </p:txBody>
      </p:sp>
      <p:sp>
        <p:nvSpPr>
          <p:cNvPr id="130" name="Google Shape;130;g3156b7084ef_0_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3" name="Picture 9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320" y="4663440"/>
            <a:ext cx="1759361" cy="1536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– Module 1: EPS Simulation &amp; Dataset Generation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Input: physical parameters (P_max, orbit period 5760s, fault type &amp; severity, seed).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Expected Output: labeled (240 × 5 nodes × 5 features) telemetry tensor + one fault-class label.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Algorithm: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Solar power: P_sa = P_max · cos(θ) · (1 − k_d·t), zeroed during eclipse.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Battery SOC: dSOC/dt = (P_charge,eff − P_discharge − P_extra) / E_bat − k_sd·SOC.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Bus voltage: V_bus = V_nom − k·(P_load − P_source), clipped to regulator limits.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Power balance (enforced every step): P_sa + P_bat,out = P_bus,load + P_losses.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Intermediate Output Screenshots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Data flow: Simulated Telemetry → Learned Dynamic Graph A(t) → Fault Classification (shown below for a real run of the trained model).</a:t>
            </a:r>
            <a:endParaRPr/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3" name="Picture 9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37560"/>
            <a:ext cx="9753600" cy="1828800"/>
          </a:xfrm>
          <a:prstGeom prst="rect">
            <a:avLst/>
          </a:prstGeom>
        </p:spPr>
      </p:pic>
      <p:pic>
        <p:nvPicPr>
          <p:cNvPr id="904" name="Picture 9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120" y="5349240"/>
            <a:ext cx="785000" cy="850760"/>
          </a:xfrm>
          <a:prstGeom prst="rect">
            <a:avLst/>
          </a:prstGeom>
        </p:spPr>
      </p:pic>
      <p:pic>
        <p:nvPicPr>
          <p:cNvPr id="905" name="Picture 9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80" y="5349240"/>
            <a:ext cx="785000" cy="850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b40153f05_0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 &amp; Future Enhancements</a:t>
            </a:r>
            <a:endParaRPr/>
          </a:p>
        </p:txBody>
      </p:sp>
      <p:sp>
        <p:nvSpPr>
          <p:cNvPr id="161" name="Google Shape;161;g31b40153f05_0_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Presented a Dynamic Graph Neural Network for satellite EPS fault diagnosis, learning the adjacency matrix from telemetry at every timestep instead of holding it fixed — directly addressing a limitation left as future work by the base paper.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Achieved 97.3% accuracy, 97.4% F1-score, and 0.996 AUC-ROC, outperforming a same-architecture static-graph baseline (81.3%) and non-graph CNN (76.0%) / LSTM (82.7%) baselines under identical training conditions.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Interpretability analysis confirmed the learned graph tracks real physical state — the dominant power source in A(t) shifts from battery to solar array within minutes of the eclipse-to-sunlit transition.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Found and partially fixed a real robustness weakness: the dynamic graph's advantage collapses under heavy sensor corruption because its structure depends on the same corrupted inputs it classifies; noise/dropout-augmented training substantially closed this gap.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Future Enhancements: multi-seed statistical validation, ablation studies isolating individual design choices, fault localization in time, and validation against real spacecraft telemetry.</a:t>
            </a:r>
            <a:endParaRPr/>
          </a:p>
        </p:txBody>
      </p:sp>
      <p:sp>
        <p:nvSpPr>
          <p:cNvPr id="162" name="Google Shape;162;g31b40153f05_0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d9c4f0da6_0_39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9" name="Google Shape;169;g30d9c4f0da6_0_39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[1] Y. Di, F. Wang, Z. Zhao, Z. Zhai, and X. Chen, “An interpretable graph neural network for real-world satellite power system anomaly detection based on graph filtering,” Expert Systems with Applications, vol. 254, p. 124348, 2024.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[2] Z. Wu, K. Zou, Y. Liu, and L. Zhu, “Graph Neural Network-Assisted Fault Diagnosis for Satellite Attitude Control Systems,” in Proc. 2025 5th Int. Conf. Electronic Information Engineering and Computer Technology (EIECT), 2025.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[3] B. L. H. Nguyen et al., “Spatial-Temporal Recurrent Graph Neural Networks for Fault Diagnostics in Power Distribution Systems,” IEEE Access, vol. 11, 2023.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[4] V. Pozdnyakov, I. Makarov, and A. Kovalenko, “Graph Neural Networks With Trainable Adjacency Matrices for Fault Diagnosis on Multivariate Sensor Data,” IEEE Access, vol. 12, pp. 152860–152872, 2024.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[5] M. Jin et al., “A Survey on Graph Neural Networks for Time Series: Forecasting, Classification, Imputation, and Anomaly Detection,” IEEE Trans. Pattern Anal. Mach. Intell., vol. 46, no. 12, pp. 10466–10485, 2024.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Full 20-reference IEEE-format list is included in the accompanying project report.</a:t>
            </a:r>
            <a:endParaRPr/>
          </a:p>
        </p:txBody>
      </p:sp>
      <p:sp>
        <p:nvSpPr>
          <p:cNvPr id="170" name="Google Shape;170;g30d9c4f0da6_0_3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– Module 2: Dynamic Graph Construction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Input: node features x_t ∈ R^(5×5) at each timestep 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Expected Output: dynamic adjacency A(t) ∈ R^(5×5) + sparsified top-3 mask M(t).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Algorithm: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Encode node features via a 2-layer MLP: h_t = MLP(x_t).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Scaled dot-product attention scoring: A_soft(t) = softmax(h_t · h_tᵀ / √D).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Sparsify: keep each destination node's top-3 highest-weighted sources + a self-loop → binary mask M(t) used by the GAT layer.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– Module 3: GCN + GAT Propagation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Input: learned adjacency A(t), mask M(t), and node features x_t.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Expected Output: per-node embeddings (32-dim × 5 nodes), mean-pooled into one graph embedding.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Algorithm: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GCN (structural propagation): H_gcn = W_gcn · (D(t)⁻¹(A_soft(t) + I) · x_t).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GAT (attention-weighted importance), restricted to M(t): α_ij = softmax_j(LeakyReLU(a_dstᵀh_i + a_srcᵀh_j)), 2 attention heads.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Node embeddings mean-pooled over the 5 nodes → one graph embedding per timestep.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– Module 4: Temporal Fusion &amp; Classification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Input: sequence of 240 per-timestep graph embeddings (one full orbit).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Expected Output: probability distribution over the 5 fault classes.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Algorithm: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GRU (80 hidden units) processes the 240-step sequence.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Final hidden state → Dropout → Fully-Connected layer.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Softmax classifier: ŷ = softmax(W_c · h_T + b_c).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– Module 5: Training, Augmentation &amp; Evaluation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Input: labeled training batches (optionally noise/dropout-augmented).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Expected Output: trained model weights + test-set performance metrics.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Algorithm: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Loss: categorical cross-entropy L = − Σ yᵢ log(ŷᵢ); Adam optimizer, early stopping (patience 10), matched ~18k–32k parameter budget across all models.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Robustness augmentation: 70% of batches get Gaussian noise (0–0.5× per-channel std) and/or dropout (0–30%, replaced with channel mean).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Evaluated on 150 held-out test episodes across 6 metrics: Accuracy, Precision, Recall, F1, AUC-ROC, Log Loss.</a:t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2017-08-03T09:47:51Z</dcterms:created>
  <dc:creator>Windows User</dc:creator>
</cp:coreProperties>
</file>