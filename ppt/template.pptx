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797675" cy="9874250"/>
  <p:embeddedFontLs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25" roundtripDataSignature="AMtx7mgoanosbrBywmEBk41yCKC7rFyd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41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enturyGothic-bold.fntdata"/><Relationship Id="rId21" Type="http://schemas.openxmlformats.org/officeDocument/2006/relationships/font" Target="fonts/CenturyGothic-regular.fntdata"/><Relationship Id="rId24" Type="http://schemas.openxmlformats.org/officeDocument/2006/relationships/font" Target="fonts/CenturyGothic-boldItalic.fntdata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3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6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" name="Google Shape;65;p36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8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3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3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ef78e3a9_2_0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ef78e3a9_2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faef78e3a9_2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0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4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d9c4f0da6_0_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1" name="Google Shape;101;g30d9c4f0da6_0_2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0d9c4f0da6_0_2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9" name="Google Shape;109;p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56b7084ef_0_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5" name="Google Shape;125;g3156b7084ef_0_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156b7084ef_0_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1" name="Google Shape;141;p2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2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b40153f05_0_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7" name="Google Shape;157;g31b40153f05_0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1b40153f05_0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0d9c4f0da6_0_3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5" name="Google Shape;165;g30d9c4f0da6_0_3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30d9c4f0da6_0_3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96417" y="2099733"/>
            <a:ext cx="10804890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67351" y="335692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6417" y="558343"/>
            <a:ext cx="19907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1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41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" name="Google Shape;17;p4"/>
          <p:cNvSpPr/>
          <p:nvPr/>
        </p:nvSpPr>
        <p:spPr>
          <a:xfrm>
            <a:off x="10437812" y="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098720" y="973137"/>
            <a:ext cx="7818392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548656" y="2258913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0347324" y="41275"/>
            <a:ext cx="8382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6"/>
          <p:cNvGrpSpPr/>
          <p:nvPr/>
        </p:nvGrpSpPr>
        <p:grpSpPr>
          <a:xfrm>
            <a:off x="3220" y="-123660"/>
            <a:ext cx="12192000" cy="6981660"/>
            <a:chOff x="0" y="-2373"/>
            <a:chExt cx="12192000" cy="6867027"/>
          </a:xfrm>
        </p:grpSpPr>
        <p:sp>
          <p:nvSpPr>
            <p:cNvPr id="29" name="Google Shape;29;p6"/>
            <p:cNvSpPr/>
            <p:nvPr/>
          </p:nvSpPr>
          <p:spPr>
            <a:xfrm>
              <a:off x="0" y="0"/>
              <a:ext cx="12192000" cy="6857999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" name="Google Shape;30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412"/>
                  </a:srgbClr>
                </a:gs>
                <a:gs pos="36000">
                  <a:srgbClr val="F7F7F7">
                    <a:alpha val="8235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" name="Google Shape;31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275"/>
                  </a:srgbClr>
                </a:gs>
                <a:gs pos="36000">
                  <a:srgbClr val="F7F7F7">
                    <a:alpha val="6275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098"/>
                  </a:srgbClr>
                </a:gs>
                <a:gs pos="36000">
                  <a:srgbClr val="F7F7F7">
                    <a:alpha val="4314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157"/>
                  </a:srgbClr>
                </a:gs>
                <a:gs pos="36000">
                  <a:srgbClr val="F7F7F7">
                    <a:alpha val="5098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-600000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8039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" name="Google Shape;36;p6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1587"/>
              <a:ext cx="12192000" cy="6856414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38" name="Google Shape;38;p6"/>
          <p:cNvSpPr txBox="1"/>
          <p:nvPr>
            <p:ph type="title"/>
          </p:nvPr>
        </p:nvSpPr>
        <p:spPr>
          <a:xfrm>
            <a:off x="2274887" y="973137"/>
            <a:ext cx="7642225" cy="70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437812" y="0"/>
            <a:ext cx="685800" cy="606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137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2703512" y="629667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151812" y="150813"/>
            <a:ext cx="1600200" cy="1599946"/>
          </a:xfrm>
          <a:prstGeom prst="ellipse">
            <a:avLst/>
          </a:prstGeom>
          <a:gradFill>
            <a:gsLst>
              <a:gs pos="0">
                <a:srgbClr val="F7F7F7">
                  <a:alpha val="12157"/>
                </a:srgbClr>
              </a:gs>
              <a:gs pos="36000">
                <a:srgbClr val="F7F7F7">
                  <a:alpha val="5098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-14401800" y="-3308619"/>
            <a:ext cx="12192000" cy="6855326"/>
          </a:xfrm>
          <a:custGeom>
            <a:rect b="b" l="l" r="r" t="t"/>
            <a:pathLst>
              <a:path extrusionOk="0" h="8638" w="15356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67" y="472100"/>
            <a:ext cx="1478992" cy="10119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/>
          <p:nvPr>
            <p:ph type="ctrTitle"/>
          </p:nvPr>
        </p:nvSpPr>
        <p:spPr>
          <a:xfrm>
            <a:off x="1683171" y="2099733"/>
            <a:ext cx="8825658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t/>
            </a:r>
            <a:endParaRPr/>
          </a:p>
        </p:txBody>
      </p:sp>
      <p:sp>
        <p:nvSpPr>
          <p:cNvPr id="60" name="Google Shape;60;p34"/>
          <p:cNvSpPr txBox="1"/>
          <p:nvPr>
            <p:ph idx="4294967295" type="subTitle"/>
          </p:nvPr>
        </p:nvSpPr>
        <p:spPr>
          <a:xfrm>
            <a:off x="1683171" y="342900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USN – Name 1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USN – Name 2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 of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Guide, Designation 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34"/>
          <p:cNvSpPr txBox="1"/>
          <p:nvPr/>
        </p:nvSpPr>
        <p:spPr>
          <a:xfrm>
            <a:off x="2816075" y="420325"/>
            <a:ext cx="76413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BCSP786 – Major Project Phase - II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- 2 </a:t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34"/>
          <p:cNvSpPr txBox="1"/>
          <p:nvPr/>
        </p:nvSpPr>
        <p:spPr>
          <a:xfrm>
            <a:off x="8710875" y="49690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31-08-2026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6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68" name="Google Shape;68;p3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Problem Statement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Objective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Base Paper – Journal Paper Referencence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Progress After Review 1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Proposed Methodology 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Intermediate Results</a:t>
            </a:r>
            <a:endParaRPr/>
          </a:p>
        </p:txBody>
      </p:sp>
      <p:sp>
        <p:nvSpPr>
          <p:cNvPr id="69" name="Google Shape;69;p36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What is the problem the existing system is facing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Outline the goal of the project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Identify the gap between the existing systems in place and the ideal system you are proposing and the need thereof.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Outline the solution that you are proposing and its impact.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76" name="Google Shape;76;p38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9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82" name="Google Shape;82;p39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Give 3 to 4 specific objectives.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They should address the problem statement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Should be specific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aef78e3a9_2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Novelty of Proposed System</a:t>
            </a:r>
            <a:endParaRPr/>
          </a:p>
        </p:txBody>
      </p:sp>
      <p:sp>
        <p:nvSpPr>
          <p:cNvPr id="90" name="Google Shape;90;g3faef78e3a9_2_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3faef78e3a9_2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0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Base Paper</a:t>
            </a:r>
            <a:endParaRPr/>
          </a:p>
        </p:txBody>
      </p:sp>
      <p:sp>
        <p:nvSpPr>
          <p:cNvPr id="97" name="Google Shape;97;p40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Reference Paper – Only Journal Paper - Conference Paper will not be accepted.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Example: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M. T. Kimour and D. Meslati, “Deriving objects from use cases in real-time embedded systems,” Information and Software Technology, vol. 47, no. 8, p. 533, June 2005.</a:t>
            </a:r>
            <a:endParaRPr/>
          </a:p>
        </p:txBody>
      </p:sp>
      <p:sp>
        <p:nvSpPr>
          <p:cNvPr id="98" name="Google Shape;98;p40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0d9c4f0da6_0_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Progress After Review 1</a:t>
            </a:r>
            <a:endParaRPr/>
          </a:p>
        </p:txBody>
      </p:sp>
      <p:sp>
        <p:nvSpPr>
          <p:cNvPr id="105" name="Google Shape;105;g30d9c4f0da6_0_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List the progress you have made after Review 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List the comments of Review 1 addressed</a:t>
            </a:r>
            <a:endParaRPr/>
          </a:p>
        </p:txBody>
      </p:sp>
      <p:sp>
        <p:nvSpPr>
          <p:cNvPr id="106" name="Google Shape;106;g30d9c4f0da6_0_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9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System Architecture (Already done in Review 2 – keep the slide) </a:t>
            </a:r>
            <a:endParaRPr/>
          </a:p>
        </p:txBody>
      </p:sp>
      <p:sp>
        <p:nvSpPr>
          <p:cNvPr id="113" name="Google Shape;113;p9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Block Diagram </a:t>
            </a:r>
            <a:endParaRPr/>
          </a:p>
        </p:txBody>
      </p:sp>
      <p:sp>
        <p:nvSpPr>
          <p:cNvPr id="114" name="Google Shape;114;p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Dataset Description (Already done in Review 2)</a:t>
            </a:r>
            <a:endParaRPr/>
          </a:p>
        </p:txBody>
      </p:sp>
      <p:sp>
        <p:nvSpPr>
          <p:cNvPr id="121" name="Google Shape;121;p1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Source of the dataset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Description of the data set with number of records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/>
              <a:t>Explain few required features and its significance in the project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22" name="Google Shape;122;p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56b7084ef_0_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Proposed Methodology</a:t>
            </a:r>
            <a:br>
              <a:rPr lang="en-US"/>
            </a:br>
            <a:r>
              <a:rPr lang="en-US" sz="1600"/>
              <a:t>Modules / Block Diagram of Proposed System</a:t>
            </a:r>
            <a:endParaRPr sz="1600"/>
          </a:p>
        </p:txBody>
      </p:sp>
      <p:sp>
        <p:nvSpPr>
          <p:cNvPr id="129" name="Google Shape;129;g3156b7084ef_0_8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Divide your proposed system into minimum three to maximum five modules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/>
              <a:t>Make them as blocks and form the block diagram (optional)</a:t>
            </a:r>
            <a:endParaRPr/>
          </a:p>
        </p:txBody>
      </p:sp>
      <p:sp>
        <p:nvSpPr>
          <p:cNvPr id="130" name="Google Shape;130;g3156b7084ef_0_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g3156b7084ef_0_8"/>
          <p:cNvSpPr/>
          <p:nvPr/>
        </p:nvSpPr>
        <p:spPr>
          <a:xfrm>
            <a:off x="1741719" y="4168553"/>
            <a:ext cx="1596043" cy="93102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Collection and Preprocessing Block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156b7084ef_0_8"/>
          <p:cNvSpPr/>
          <p:nvPr/>
        </p:nvSpPr>
        <p:spPr>
          <a:xfrm>
            <a:off x="3884459" y="4164676"/>
            <a:ext cx="1596043" cy="93102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Feature Extraction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156b7084ef_0_8"/>
          <p:cNvSpPr/>
          <p:nvPr/>
        </p:nvSpPr>
        <p:spPr>
          <a:xfrm>
            <a:off x="6048359" y="4164676"/>
            <a:ext cx="1596043" cy="93102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 Training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156b7084ef_0_8"/>
          <p:cNvSpPr/>
          <p:nvPr/>
        </p:nvSpPr>
        <p:spPr>
          <a:xfrm>
            <a:off x="8192483" y="4164676"/>
            <a:ext cx="1596043" cy="93102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48591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Evaluation and Tuning Block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g3156b7084ef_0_8"/>
          <p:cNvCxnSpPr>
            <a:stCxn id="131" idx="3"/>
            <a:endCxn id="132" idx="1"/>
          </p:cNvCxnSpPr>
          <p:nvPr/>
        </p:nvCxnSpPr>
        <p:spPr>
          <a:xfrm flipH="1" rot="10800000">
            <a:off x="3337762" y="4630166"/>
            <a:ext cx="546600" cy="3900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g3156b7084ef_0_8"/>
          <p:cNvCxnSpPr/>
          <p:nvPr/>
        </p:nvCxnSpPr>
        <p:spPr>
          <a:xfrm flipH="1" rot="10800000">
            <a:off x="5505669" y="4626312"/>
            <a:ext cx="538308" cy="3877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g3156b7084ef_0_8"/>
          <p:cNvCxnSpPr/>
          <p:nvPr/>
        </p:nvCxnSpPr>
        <p:spPr>
          <a:xfrm flipH="1" rot="10800000">
            <a:off x="7670953" y="4622435"/>
            <a:ext cx="538308" cy="3877"/>
          </a:xfrm>
          <a:prstGeom prst="straightConnector1">
            <a:avLst/>
          </a:prstGeom>
          <a:noFill/>
          <a:ln cap="flat" cmpd="sng" w="76200">
            <a:solidFill>
              <a:srgbClr val="AAD22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g3156b7084ef_0_8"/>
          <p:cNvSpPr txBox="1"/>
          <p:nvPr/>
        </p:nvSpPr>
        <p:spPr>
          <a:xfrm>
            <a:off x="1396538" y="3765665"/>
            <a:ext cx="17539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45" name="Google Shape;145;p2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Guidelines for Explaining Each Block</a:t>
            </a:r>
            <a:r>
              <a:rPr b="1" lang="en-US" sz="3000">
                <a:solidFill>
                  <a:srgbClr val="FF0000"/>
                </a:solidFill>
              </a:rPr>
              <a:t> (</a:t>
            </a:r>
            <a:r>
              <a:rPr b="1" i="1" lang="en-US" sz="2800">
                <a:solidFill>
                  <a:srgbClr val="FF0000"/>
                </a:solidFill>
              </a:rPr>
              <a:t>Use different slides for each blocks) - minimum 5 slides to explain each block.</a:t>
            </a:r>
            <a:endParaRPr b="1" sz="3400">
              <a:solidFill>
                <a:srgbClr val="FF0000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Input to the block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Format of the input : Specify the structure, data type, or format of the input (e.g., images, text, numerical data). –this can be done by giving samples (it can be screenshots of input/ output of intermediate steps) and explanations.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Expected Output : Describe the output generated by the block, including its structure and purpose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Algorithm(s) Used in the Block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Option 1: Break down the process into step-by-step instructions.</a:t>
            </a:r>
            <a:endParaRPr/>
          </a:p>
          <a:p>
            <a:pPr indent="-342900" lvl="1" marL="8001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AutoNum type="arabicPeriod"/>
            </a:pPr>
            <a:r>
              <a:rPr lang="en-US" sz="1400">
                <a:latin typeface="Times New Roman"/>
                <a:ea typeface="Times New Roman"/>
                <a:cs typeface="Times New Roman"/>
                <a:sym typeface="Times New Roman"/>
              </a:rPr>
              <a:t>Option 2: Describe the algorithms used with relevant details using diagrams etc.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80000"/>
              </a:buClr>
              <a:buSzPts val="2740"/>
              <a:buAutoNum type="arabicPeriod"/>
            </a:pPr>
            <a:r>
              <a:rPr b="1" lang="en-US" sz="2700">
                <a:solidFill>
                  <a:srgbClr val="980000"/>
                </a:solidFill>
              </a:rPr>
              <a:t>Mathematical equations for each step.(Very Important)</a:t>
            </a:r>
            <a:endParaRPr b="1" sz="3100">
              <a:solidFill>
                <a:srgbClr val="980000"/>
              </a:solidFill>
            </a:endParaRPr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46" name="Google Shape;146;p2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Intermediate Output Screenshots </a:t>
            </a:r>
            <a:endParaRPr/>
          </a:p>
        </p:txBody>
      </p:sp>
      <p:sp>
        <p:nvSpPr>
          <p:cNvPr id="153" name="Google Shape;153;p8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Show </a:t>
            </a:r>
            <a:r>
              <a:rPr b="1" lang="en-US"/>
              <a:t>how data flows through the different modules</a:t>
            </a:r>
            <a:r>
              <a:rPr lang="en-US"/>
              <a:t> by including screenshots of important intermediate outputs.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Example: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Data Science:</a:t>
            </a:r>
            <a:r>
              <a:rPr lang="en-US"/>
              <a:t> API Input → Raw Data → Data Preprocessing → Processed Data → Model Input → Prediction </a:t>
            </a:r>
            <a:endParaRPr/>
          </a:p>
          <a:p>
            <a:pPr indent="-32004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b="1" lang="en-US"/>
              <a:t>Computer Vision:</a:t>
            </a:r>
            <a:r>
              <a:rPr lang="en-US"/>
              <a:t> Input Image → Preprocessing → Feature Extraction / Detection → Classification → Final Output </a:t>
            </a:r>
            <a:endParaRPr/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b="1" lang="en-US"/>
              <a:t>Show actual screenshots at each major stage, not just the final result.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b40153f05_0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Conclusion &amp; Future Enhancements</a:t>
            </a:r>
            <a:endParaRPr/>
          </a:p>
        </p:txBody>
      </p:sp>
      <p:sp>
        <p:nvSpPr>
          <p:cNvPr id="161" name="Google Shape;161;g31b40153f05_0_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62" name="Google Shape;162;g31b40153f05_0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d9c4f0da6_0_39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9" name="Google Shape;169;g30d9c4f0da6_0_39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Use IEEE Reference Format only and cite the reference inside the ppt wherever used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[1] Authors, “Title of the Paper”, Journal , Vol. Year, DOI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[2]</a:t>
            </a:r>
            <a:endParaRPr/>
          </a:p>
        </p:txBody>
      </p:sp>
      <p:sp>
        <p:nvSpPr>
          <p:cNvPr id="170" name="Google Shape;170;g30d9c4f0da6_0_3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2017-08-03T09:47:51Z</dcterms:created>
  <dc:creator>Windows User</dc:creator>
</cp:coreProperties>
</file>